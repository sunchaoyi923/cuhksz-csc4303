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3"/>
    <p:sldId id="313" r:id="rId4"/>
    <p:sldId id="310" r:id="rId5"/>
    <p:sldId id="314" r:id="rId6"/>
    <p:sldId id="315" r:id="rId7"/>
    <p:sldId id="316" r:id="rId8"/>
    <p:sldId id="317" r:id="rId9"/>
    <p:sldId id="319" r:id="rId10"/>
    <p:sldId id="320" r:id="rId11"/>
    <p:sldId id="27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6541" y="1566947"/>
            <a:ext cx="8088198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CSC4303: </a:t>
            </a:r>
            <a:r>
              <a:rPr lang="en-US" altLang="zh-CN" sz="3200" b="1" dirty="0"/>
              <a:t>Network Programming</a:t>
            </a:r>
            <a:endParaRPr lang="en-US" altLang="zh-CN" sz="3200" b="1" dirty="0"/>
          </a:p>
          <a:p>
            <a:endParaRPr lang="en-US" altLang="zh-CN" sz="3200" dirty="0"/>
          </a:p>
          <a:p>
            <a:pPr algn="ctr">
              <a:lnSpc>
                <a:spcPct val="150000"/>
              </a:lnSpc>
            </a:pPr>
            <a:r>
              <a:rPr lang="en-US" altLang="zh-CN" sz="2800" b="1" dirty="0"/>
              <a:t>Tutorial 5: Introduction to Assignment 3</a:t>
            </a:r>
            <a:endParaRPr lang="en-US" altLang="zh-CN" sz="2800" b="1" dirty="0"/>
          </a:p>
          <a:p>
            <a:pPr algn="ctr"/>
            <a:r>
              <a:rPr lang="en-US" altLang="zh-CN" sz="2800" b="1" dirty="0"/>
              <a:t>Flooding and Peer-to-peer Search</a:t>
            </a:r>
            <a:endParaRPr lang="en-US" altLang="zh-CN" sz="2800" b="1" dirty="0"/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Fang Zihao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March 2th, 2025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zh-CN"/>
              <a:t>A basic peer-to-peer (P2P) file search protocol.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Techniques used in this assignment: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Flooding mechanism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TTL Control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Mutex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58107" y="1669686"/>
            <a:ext cx="1007578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Implementation Language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C </a:t>
            </a:r>
            <a:r>
              <a:rPr lang="en-US" altLang="zh-CN" sz="2400" dirty="0"/>
              <a:t>(features up to C17 can be used)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Environment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Unix-like Operating System (POSIX-compatible)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GCC or Clang (Apple Clang) should be the compiler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GNU Make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b="1"/>
              <a:t>main.c: 3 TODOs</a:t>
            </a:r>
            <a:endParaRPr lang="en-US" altLang="zh-CN" b="1"/>
          </a:p>
          <a:p>
            <a:pPr lvl="1"/>
            <a:r>
              <a:rPr lang="en-US" altLang="zh-CN" sz="2400"/>
              <a:t>Parse the command-line arguments and initialize server</a:t>
            </a:r>
            <a:endParaRPr lang="en-US" altLang="zh-CN"/>
          </a:p>
          <a:p>
            <a:r>
              <a:rPr lang="en-US" altLang="zh-CN" b="1"/>
              <a:t>server.c: 10 TODOs</a:t>
            </a:r>
            <a:endParaRPr lang="en-US" altLang="zh-CN" b="1"/>
          </a:p>
          <a:p>
            <a:pPr lvl="1"/>
            <a:r>
              <a:rPr lang="en-US" altLang="zh-CN" sz="2400"/>
              <a:t>Server thread function and server operations</a:t>
            </a:r>
            <a:endParaRPr lang="en-US" altLang="zh-CN"/>
          </a:p>
          <a:p>
            <a:r>
              <a:rPr lang="en-US" altLang="zh-CN" b="1"/>
              <a:t>utils.c: 6 TODOs</a:t>
            </a:r>
            <a:endParaRPr lang="en-US" altLang="zh-CN" b="1"/>
          </a:p>
          <a:p>
            <a:pPr lvl="1"/>
            <a:r>
              <a:rPr lang="en-US" altLang="zh-CN"/>
              <a:t>Helper functions non (directly) network operations</a:t>
            </a:r>
            <a:endParaRPr lang="en-US" altLang="zh-CN"/>
          </a:p>
          <a:p>
            <a:r>
              <a:rPr lang="en-US" altLang="zh-CN" b="1"/>
              <a:t>network.c: No TODO</a:t>
            </a:r>
            <a:endParaRPr lang="en-US" altLang="zh-CN" b="1"/>
          </a:p>
          <a:p>
            <a:pPr lvl="1"/>
            <a:r>
              <a:rPr lang="en-US" altLang="zh-CN"/>
              <a:t>Helper functions for network operations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Requirements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b="1"/>
              <a:t>Basic Query Flooding</a:t>
            </a:r>
            <a:r>
              <a:rPr lang="en-US" altLang="zh-CN"/>
              <a:t>: Confirm that a query packet is distributed to all neighboring servers</a:t>
            </a:r>
            <a:endParaRPr lang="en-US" altLang="zh-CN"/>
          </a:p>
          <a:p>
            <a:r>
              <a:rPr lang="en-US" altLang="zh-CN" b="1"/>
              <a:t>Loop Avoidance</a:t>
            </a:r>
            <a:r>
              <a:rPr lang="en-US" altLang="zh-CN"/>
              <a:t>: Ensure the system prevents endless looping of query packets in a network with loops.</a:t>
            </a:r>
            <a:endParaRPr lang="en-US" altLang="zh-CN"/>
          </a:p>
          <a:p>
            <a:r>
              <a:rPr lang="en-US" altLang="zh-CN" b="1"/>
              <a:t>TTL Control</a:t>
            </a:r>
            <a:r>
              <a:rPr lang="en-US" altLang="zh-CN"/>
              <a:t>: Verify that the Time-to-Live (TTL) mechanism restricts query packet propagation.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Pthread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POSIX Thread Standard</a:t>
            </a:r>
            <a:endParaRPr lang="en-US" altLang="zh-CN"/>
          </a:p>
          <a:p>
            <a:r>
              <a:rPr lang="en-US" altLang="zh-CN"/>
              <a:t>Shared-Memory multithreading</a:t>
            </a:r>
            <a:endParaRPr lang="en-US" altLang="zh-CN"/>
          </a:p>
          <a:p>
            <a:r>
              <a:rPr lang="en-US" altLang="zh-CN"/>
              <a:t>Usage:</a:t>
            </a:r>
            <a:endParaRPr lang="en-US" altLang="zh-CN"/>
          </a:p>
          <a:p>
            <a:pPr lvl="1"/>
            <a:r>
              <a:rPr lang="en-US" altLang="zh-CN"/>
              <a:t>#include &lt;pthread.h&gt; in the source file</a:t>
            </a:r>
            <a:endParaRPr lang="en-US" altLang="zh-CN"/>
          </a:p>
          <a:p>
            <a:pPr lvl="1"/>
            <a:r>
              <a:rPr lang="en-US" altLang="zh-CN"/>
              <a:t>-lpthread in the compiler argument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pthread_create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Create a POSIX thread</a:t>
            </a:r>
            <a:endParaRPr lang="en-US" altLang="zh-CN"/>
          </a:p>
          <a:p>
            <a:r>
              <a:rPr lang="en-US" altLang="zh-CN"/>
              <a:t>Use pthread_exit or pthread_cancel to destroy </a:t>
            </a:r>
            <a:endParaRPr lang="en-US" altLang="zh-CN"/>
          </a:p>
          <a:p>
            <a:r>
              <a:rPr lang="en-US" altLang="zh-CN"/>
              <a:t>int pthread_create(pthread_t *thread, pthread_attr_t *attr, void *(*start_routine)(void*), void *arg);</a:t>
            </a:r>
            <a:endParaRPr lang="en-US" altLang="zh-CN"/>
          </a:p>
          <a:p>
            <a:pPr lvl="1"/>
            <a:r>
              <a:rPr lang="en-US" altLang="zh-CN"/>
              <a:t>thread (out): Generated thread identifier</a:t>
            </a:r>
            <a:endParaRPr lang="en-US" altLang="zh-CN"/>
          </a:p>
          <a:p>
            <a:pPr lvl="1"/>
            <a:r>
              <a:rPr lang="en-US" altLang="zh-CN"/>
              <a:t>attr (in): Attributes of thread. NULL represents default</a:t>
            </a:r>
            <a:endParaRPr lang="en-US" altLang="zh-CN"/>
          </a:p>
          <a:p>
            <a:pPr lvl="1"/>
            <a:r>
              <a:rPr lang="en-US" altLang="zh-CN"/>
              <a:t>start_routine (in): Start function of the thread</a:t>
            </a:r>
            <a:endParaRPr lang="en-US" altLang="zh-CN"/>
          </a:p>
          <a:p>
            <a:pPr lvl="1"/>
            <a:r>
              <a:rPr lang="en-US" altLang="zh-CN"/>
              <a:t>arg (in): Argument of the start function.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Mutex Lock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Multiple threads try to lock a single mutex lock.</a:t>
            </a:r>
            <a:endParaRPr lang="en-US" altLang="zh-CN"/>
          </a:p>
          <a:p>
            <a:r>
              <a:rPr lang="en-US" altLang="zh-CN"/>
              <a:t>Only one thread can lock and own the mutex lock, and then execute the code after it. Other threads can do nothing but to wait the lock to be unlocked.</a:t>
            </a:r>
            <a:endParaRPr lang="en-US" altLang="zh-CN"/>
          </a:p>
          <a:p>
            <a:r>
              <a:rPr lang="en-US" altLang="zh-CN"/>
              <a:t>The thread unlocks the mutex lock.</a:t>
            </a:r>
            <a:endParaRPr lang="en-US" altLang="zh-CN"/>
          </a:p>
          <a:p>
            <a:r>
              <a:rPr lang="en-US" altLang="zh-CN"/>
              <a:t>Other threads can then try to lock this mutex lock.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Be aware of dead locks!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Pthread Mutex Lock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Initialize:</a:t>
            </a:r>
            <a:endParaRPr lang="en-US" altLang="zh-CN"/>
          </a:p>
          <a:p>
            <a:pPr lvl="1"/>
            <a:r>
              <a:rPr lang="en-US" altLang="zh-CN" sz="2400"/>
              <a:t>pthread_mutex_t mutex_name = PTHREAD_MUTEX_INITIALIZER;</a:t>
            </a:r>
            <a:endParaRPr lang="en-US" altLang="zh-CN" sz="2400"/>
          </a:p>
          <a:p>
            <a:pPr lvl="1"/>
            <a:r>
              <a:rPr lang="en-US" altLang="zh-CN" sz="2400"/>
              <a:t>Or use the function pthread_mutex_init</a:t>
            </a:r>
            <a:endParaRPr lang="en-US" altLang="zh-CN"/>
          </a:p>
          <a:p>
            <a:r>
              <a:rPr lang="en-US" altLang="zh-CN"/>
              <a:t>pthread_mutex_lock to lock the mutex lock. If the mutex lock is already locked, wait until it has been unlocked.</a:t>
            </a:r>
            <a:endParaRPr lang="en-US" altLang="zh-CN"/>
          </a:p>
          <a:p>
            <a:r>
              <a:rPr lang="en-US" altLang="zh-CN"/>
              <a:t>pthread_mutex_trylock to lock the mutex lock. If the mutex lock is already locked, continue execution.</a:t>
            </a:r>
            <a:endParaRPr lang="en-US" altLang="zh-CN"/>
          </a:p>
          <a:p>
            <a:r>
              <a:rPr lang="en-US" altLang="zh-CN"/>
              <a:t>pthread_mutex_unlock to unlock the mutex lock.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KB_final_end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Thank You!</a:t>
            </a:r>
            <a:endParaRPr lang="en-US" altLang="zh-CN"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2199</Words>
  <Application>WPS 演示</Application>
  <PresentationFormat>宽屏</PresentationFormat>
  <Paragraphs>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Kingsoft Math</vt:lpstr>
      <vt:lpstr>等线 Light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Wingdings</vt:lpstr>
      <vt:lpstr>Office 主题​​</vt:lpstr>
      <vt:lpstr>PowerPoint 演示文稿</vt:lpstr>
      <vt:lpstr>PowerPoint 演示文稿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Na Zhang (SSE, 120090176)</dc:creator>
  <cp:lastModifiedBy>闹闹</cp:lastModifiedBy>
  <cp:revision>89</cp:revision>
  <dcterms:created xsi:type="dcterms:W3CDTF">2026-03-02T08:00:52Z</dcterms:created>
  <dcterms:modified xsi:type="dcterms:W3CDTF">2026-03-02T08:00:52Z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2CFC521AAB6FD707136D08690F564DA8_42</vt:lpwstr>
  </property>
  <property fmtid="{D5CDD505-2E9C-101B-9397-08002B2CF9AE}" pid="3" name="KSOProductBuildVer">
    <vt:lpwstr>2052-12.1.24031.24031</vt:lpwstr>
  </property>
</Properties>
</file>