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9" r:id="rId2"/>
    <p:sldId id="313" r:id="rId3"/>
    <p:sldId id="315" r:id="rId4"/>
    <p:sldId id="321" r:id="rId5"/>
    <p:sldId id="322" r:id="rId6"/>
    <p:sldId id="323" r:id="rId7"/>
    <p:sldId id="324" r:id="rId8"/>
    <p:sldId id="325" r:id="rId9"/>
    <p:sldId id="327" r:id="rId10"/>
    <p:sldId id="328" r:id="rId11"/>
    <p:sldId id="27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8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oyi Sun (SDS,124090550)" userId="7336b744-5857-42bc-9fde-1c1347a32774" providerId="ADAL" clId="{3A35FEB6-D186-4DFE-8550-C935A8639321}"/>
    <pc:docChg chg="modSld sldOrd">
      <pc:chgData name="Chaoyi Sun (SDS,124090550)" userId="7336b744-5857-42bc-9fde-1c1347a32774" providerId="ADAL" clId="{3A35FEB6-D186-4DFE-8550-C935A8639321}" dt="2026-03-09T11:15:04.810" v="1"/>
      <pc:docMkLst>
        <pc:docMk/>
      </pc:docMkLst>
      <pc:sldChg chg="ord">
        <pc:chgData name="Chaoyi Sun (SDS,124090550)" userId="7336b744-5857-42bc-9fde-1c1347a32774" providerId="ADAL" clId="{3A35FEB6-D186-4DFE-8550-C935A8639321}" dt="2026-03-09T11:15:04.810" v="1"/>
        <pc:sldMkLst>
          <pc:docMk/>
          <pc:sldMk cId="0" sldId="32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F6F6-E017-4203-B14A-A9D43F38C1BE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0ED31-37C2-41CD-82FB-1151625404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F6F6-E017-4203-B14A-A9D43F38C1BE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0ED31-37C2-41CD-82FB-1151625404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F6F6-E017-4203-B14A-A9D43F38C1BE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0ED31-37C2-41CD-82FB-1151625404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F6F6-E017-4203-B14A-A9D43F38C1BE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0ED31-37C2-41CD-82FB-1151625404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F6F6-E017-4203-B14A-A9D43F38C1BE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0ED31-37C2-41CD-82FB-1151625404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F6F6-E017-4203-B14A-A9D43F38C1BE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0ED31-37C2-41CD-82FB-1151625404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F6F6-E017-4203-B14A-A9D43F38C1BE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0ED31-37C2-41CD-82FB-1151625404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F6F6-E017-4203-B14A-A9D43F38C1BE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0ED31-37C2-41CD-82FB-1151625404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F6F6-E017-4203-B14A-A9D43F38C1BE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0ED31-37C2-41CD-82FB-1151625404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F6F6-E017-4203-B14A-A9D43F38C1BE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0ED31-37C2-41CD-82FB-1151625404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F6F6-E017-4203-B14A-A9D43F38C1BE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0ED31-37C2-41CD-82FB-1151625404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EF6F6-E017-4203-B14A-A9D43F38C1BE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E0ED31-37C2-41CD-82FB-1151625404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686541" y="1566947"/>
            <a:ext cx="8088198" cy="3876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/>
              <a:t>CSC4303: Network Programming</a:t>
            </a:r>
          </a:p>
          <a:p>
            <a:endParaRPr lang="en-US" altLang="zh-CN" sz="3200" dirty="0"/>
          </a:p>
          <a:p>
            <a:pPr algn="ctr">
              <a:lnSpc>
                <a:spcPct val="150000"/>
              </a:lnSpc>
            </a:pPr>
            <a:r>
              <a:rPr lang="en-US" altLang="zh-CN" sz="2800" b="1" dirty="0"/>
              <a:t>Tutorial 6: </a:t>
            </a:r>
          </a:p>
          <a:p>
            <a:pPr algn="ctr"/>
            <a:r>
              <a:rPr lang="en-US" altLang="zh-CN" sz="2800" b="1" dirty="0"/>
              <a:t>Flooding and TTL Control</a:t>
            </a:r>
          </a:p>
          <a:p>
            <a:pPr algn="ctr"/>
            <a:endParaRPr lang="en-US" altLang="zh-CN" sz="2800" dirty="0"/>
          </a:p>
          <a:p>
            <a:pPr algn="ctr"/>
            <a:r>
              <a:rPr lang="en-US" altLang="zh-CN" sz="2800" dirty="0"/>
              <a:t>Fang Zihao</a:t>
            </a:r>
          </a:p>
          <a:p>
            <a:pPr algn="ctr"/>
            <a:endParaRPr lang="en-US" altLang="zh-CN" sz="2800" dirty="0"/>
          </a:p>
          <a:p>
            <a:pPr algn="ctr"/>
            <a:r>
              <a:rPr lang="en-US" altLang="zh-CN" sz="2800" dirty="0"/>
              <a:t>March 9th, 2025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Overview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/>
              <a:t>Techniques used in this assignment:</a:t>
            </a:r>
          </a:p>
          <a:p>
            <a:pPr lvl="1">
              <a:lnSpc>
                <a:spcPct val="150000"/>
              </a:lnSpc>
            </a:pPr>
            <a:r>
              <a:rPr lang="en-US" altLang="zh-CN" sz="2400"/>
              <a:t>Flooding Mechanism</a:t>
            </a:r>
          </a:p>
          <a:p>
            <a:pPr lvl="1">
              <a:lnSpc>
                <a:spcPct val="150000"/>
              </a:lnSpc>
            </a:pPr>
            <a:r>
              <a:rPr lang="en-US" altLang="zh-CN" sz="2400"/>
              <a:t>Loop Avoidance</a:t>
            </a:r>
            <a:endParaRPr lang="en-US" altLang="zh-CN"/>
          </a:p>
          <a:p>
            <a:pPr lvl="1">
              <a:lnSpc>
                <a:spcPct val="150000"/>
              </a:lnSpc>
            </a:pPr>
            <a:r>
              <a:rPr lang="en-US" altLang="zh-CN"/>
              <a:t>TTL Control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Requirements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/>
              <a:t>Basic Query Flooding</a:t>
            </a:r>
            <a:r>
              <a:rPr lang="en-US" altLang="zh-CN"/>
              <a:t>: Confirm that a query packet is distributed to all neighboring servers</a:t>
            </a:r>
          </a:p>
          <a:p>
            <a:r>
              <a:rPr lang="en-US" altLang="zh-CN" b="1"/>
              <a:t>Loop Avoidance</a:t>
            </a:r>
            <a:r>
              <a:rPr lang="en-US" altLang="zh-CN"/>
              <a:t>: Ensure the system prevents endless looping of query packets in a network with loops.</a:t>
            </a:r>
          </a:p>
          <a:p>
            <a:r>
              <a:rPr lang="en-US" altLang="zh-CN" b="1"/>
              <a:t>TTL Control</a:t>
            </a:r>
            <a:r>
              <a:rPr lang="en-US" altLang="zh-CN"/>
              <a:t>: Verify that the Time-to-Live (TTL) mechanism restricts query packet propagation.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Flooding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229225" cy="4351655"/>
          </a:xfrm>
        </p:spPr>
        <p:txBody>
          <a:bodyPr/>
          <a:lstStyle/>
          <a:p>
            <a:r>
              <a:rPr lang="en-US" altLang="zh-CN"/>
              <a:t>Iterate all the packets in the neighbor list.</a:t>
            </a:r>
          </a:p>
          <a:p>
            <a:r>
              <a:rPr lang="en-US" altLang="zh-CN"/>
              <a:t>If the neighbor is not the sender, forward the packet to it.</a:t>
            </a:r>
          </a:p>
          <a:p>
            <a:r>
              <a:rPr lang="en-US" altLang="zh-CN"/>
              <a:t>Otherwise, skip and continue. </a:t>
            </a: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68895" y="4269105"/>
            <a:ext cx="798830" cy="836930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4"/>
          <a:stretch>
            <a:fillRect/>
          </a:stretch>
        </p:blipFill>
        <p:spPr>
          <a:xfrm>
            <a:off x="6066790" y="1825625"/>
            <a:ext cx="5937250" cy="35388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Flooding: Pseudo Code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>
                <a:latin typeface="Courier New Regular" panose="02070409020205090404" charset="0"/>
                <a:cs typeface="Courier New Regular" panose="02070409020205090404" charset="0"/>
              </a:rPr>
              <a:t>neighbors := List of neighbors</a:t>
            </a:r>
          </a:p>
          <a:p>
            <a:pPr marL="0" indent="0">
              <a:buNone/>
            </a:pPr>
            <a:r>
              <a:rPr lang="en-US" altLang="zh-CN">
                <a:latin typeface="Courier New Regular" panose="02070409020205090404" charset="0"/>
                <a:cs typeface="Courier New Regular" panose="02070409020205090404" charset="0"/>
              </a:rPr>
              <a:t>for each neighbor in neighbors</a:t>
            </a:r>
          </a:p>
          <a:p>
            <a:pPr marL="457200" lvl="1" indent="457200">
              <a:buNone/>
            </a:pPr>
            <a:r>
              <a:rPr lang="en-US" altLang="zh-CN" sz="2800">
                <a:latin typeface="Courier New Regular" panose="02070409020205090404" charset="0"/>
                <a:cs typeface="Courier New Regular" panose="02070409020205090404" charset="0"/>
              </a:rPr>
              <a:t>if neighbor.addr = sender.addr and neighbor.port = sender.port then</a:t>
            </a:r>
          </a:p>
          <a:p>
            <a:pPr marL="1371600" lvl="3" indent="457200">
              <a:buNone/>
            </a:pPr>
            <a:r>
              <a:rPr lang="en-US" altLang="zh-CN" sz="2800">
                <a:latin typeface="Courier New Regular" panose="02070409020205090404" charset="0"/>
                <a:cs typeface="Courier New Regular" panose="02070409020205090404" charset="0"/>
              </a:rPr>
              <a:t>continue</a:t>
            </a:r>
          </a:p>
          <a:p>
            <a:pPr marL="457200" lvl="3" indent="457200" fontAlgn="auto">
              <a:buNone/>
            </a:pPr>
            <a:r>
              <a:rPr lang="en-US" altLang="zh-CN" sz="2800">
                <a:latin typeface="Courier New Regular" panose="02070409020205090404" charset="0"/>
                <a:cs typeface="Courier New Regular" panose="02070409020205090404" charset="0"/>
              </a:rPr>
              <a:t>end if</a:t>
            </a:r>
          </a:p>
          <a:p>
            <a:pPr marL="457200" lvl="3" indent="457200" fontAlgn="auto">
              <a:buNone/>
            </a:pPr>
            <a:r>
              <a:rPr lang="en-US" altLang="zh-CN" sz="2800">
                <a:latin typeface="Courier New Regular" panose="02070409020205090404" charset="0"/>
                <a:cs typeface="Courier New Regular" panose="02070409020205090404" charset="0"/>
              </a:rPr>
              <a:t>send packet to neighbor</a:t>
            </a:r>
          </a:p>
          <a:p>
            <a:pPr marL="0" lvl="3" indent="0" fontAlgn="auto">
              <a:buNone/>
            </a:pPr>
            <a:r>
              <a:rPr lang="en-US" altLang="zh-CN" sz="2800">
                <a:latin typeface="Courier New Regular" panose="02070409020205090404" charset="0"/>
                <a:cs typeface="Courier New Regular" panose="02070409020205090404" charset="0"/>
              </a:rPr>
              <a:t>end for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Loop Avoidance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Method 1: Prevent sending the packet to servers already passed</a:t>
            </a:r>
          </a:p>
          <a:p>
            <a:r>
              <a:rPr lang="en-US" altLang="zh-CN"/>
              <a:t>Algorithm:</a:t>
            </a:r>
          </a:p>
          <a:p>
            <a:pPr lvl="1"/>
            <a:r>
              <a:rPr lang="en-US" altLang="zh-CN" sz="2800"/>
              <a:t>Maintain a list in the packet.</a:t>
            </a:r>
          </a:p>
          <a:p>
            <a:pPr lvl="1"/>
            <a:r>
              <a:rPr lang="en-US" altLang="zh-CN" sz="2800"/>
              <a:t>When a server receives the packet, it will add itself to the list.</a:t>
            </a:r>
          </a:p>
          <a:p>
            <a:pPr lvl="1"/>
            <a:r>
              <a:rPr lang="en-US" altLang="zh-CN" sz="2800"/>
              <a:t>When a server floods the packet, it will check if the target is in the list. If so, do not send the packet to the target.</a:t>
            </a:r>
          </a:p>
          <a:p>
            <a:pPr lvl="1"/>
            <a:r>
              <a:rPr lang="en-US" altLang="zh-CN" sz="2800">
                <a:solidFill>
                  <a:srgbClr val="FF0000"/>
                </a:solidFill>
              </a:rPr>
              <a:t>Time complexity: O(mn). Difficult to realize!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Loop Avoidance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Method 2: Discard the packet when sending to servers already passed.</a:t>
            </a:r>
          </a:p>
          <a:p>
            <a:r>
              <a:rPr lang="en-US" altLang="zh-CN"/>
              <a:t>Algorithm:</a:t>
            </a:r>
          </a:p>
          <a:p>
            <a:pPr lvl="1"/>
            <a:r>
              <a:rPr lang="en-US" altLang="zh-CN" sz="2800"/>
              <a:t>Maintain a list in the server.</a:t>
            </a:r>
          </a:p>
          <a:p>
            <a:pPr lvl="1"/>
            <a:r>
              <a:rPr lang="en-US" altLang="zh-CN" sz="2800"/>
              <a:t>When a packet passed the server, it will record its packet ID in the list.</a:t>
            </a:r>
          </a:p>
          <a:p>
            <a:pPr lvl="1"/>
            <a:r>
              <a:rPr lang="en-US" altLang="zh-CN" sz="2800"/>
              <a:t>When a server receives a packet whose ID is already in the list, discard the packet.</a:t>
            </a:r>
          </a:p>
          <a:p>
            <a:pPr lvl="1"/>
            <a:r>
              <a:rPr lang="en-US" altLang="zh-CN" sz="2800">
                <a:solidFill>
                  <a:srgbClr val="FF0000"/>
                </a:solidFill>
              </a:rPr>
              <a:t>Recommended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TTL Control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When a packet passes a machine, the TTL will reduce by 1.</a:t>
            </a:r>
          </a:p>
          <a:p>
            <a:r>
              <a:rPr lang="en-US" altLang="zh-CN"/>
              <a:t>If the packet’s TTL becomes 0, it will be discarded.</a:t>
            </a:r>
          </a:p>
          <a:p>
            <a:r>
              <a:rPr lang="en-US" altLang="zh-CN"/>
              <a:t>Preventing the packet traveling in a long route.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445" y="4108450"/>
            <a:ext cx="6502400" cy="2476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Courier New Regular" panose="02070409020205090404" charset="0"/>
                <a:cs typeface="Courier New Regular" panose="02070409020205090404" charset="0"/>
              </a:rPr>
              <a:t>memcpy</a:t>
            </a:r>
            <a:r>
              <a:rPr lang="en-US" altLang="zh-CN"/>
              <a:t> and </a:t>
            </a:r>
            <a:r>
              <a:rPr lang="en-US" altLang="zh-CN">
                <a:latin typeface="Courier New Regular" panose="02070409020205090404" charset="0"/>
                <a:cs typeface="Courier New Regular" panose="02070409020205090404" charset="0"/>
              </a:rPr>
              <a:t>strcpy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From the header “string.h”</a:t>
            </a:r>
          </a:p>
          <a:p>
            <a:r>
              <a:rPr lang="en-US" altLang="zh-CN">
                <a:latin typeface="Courier New Regular" panose="02070409020205090404" charset="0"/>
                <a:cs typeface="Courier New Regular" panose="02070409020205090404" charset="0"/>
              </a:rPr>
              <a:t>strcpy</a:t>
            </a:r>
            <a:r>
              <a:rPr lang="en-US" altLang="zh-CN"/>
              <a:t>: Copies the null-terminated byte string pointed to by </a:t>
            </a:r>
            <a:r>
              <a:rPr lang="en-US" altLang="zh-CN">
                <a:latin typeface="Courier New Regular" panose="02070409020205090404" charset="0"/>
                <a:cs typeface="Courier New Regular" panose="02070409020205090404" charset="0"/>
              </a:rPr>
              <a:t>src</a:t>
            </a:r>
            <a:r>
              <a:rPr lang="en-US" altLang="zh-CN"/>
              <a:t>, including the null terminator, to the character array </a:t>
            </a:r>
            <a:r>
              <a:rPr lang="en-US" altLang="zh-CN">
                <a:latin typeface="Courier New Regular" panose="02070409020205090404" charset="0"/>
                <a:cs typeface="Courier New Regular" panose="02070409020205090404" charset="0"/>
              </a:rPr>
              <a:t>dest</a:t>
            </a:r>
            <a:r>
              <a:rPr lang="en-US" altLang="zh-CN"/>
              <a:t>.</a:t>
            </a:r>
          </a:p>
          <a:p>
            <a:r>
              <a:rPr lang="en-US" altLang="zh-CN">
                <a:latin typeface="Courier New Regular" panose="02070409020205090404" charset="0"/>
                <a:cs typeface="Courier New Regular" panose="02070409020205090404" charset="0"/>
              </a:rPr>
              <a:t>char* strcpy( char* dest, const char* src );</a:t>
            </a:r>
          </a:p>
          <a:p>
            <a:r>
              <a:rPr lang="en-US" altLang="zh-CN">
                <a:latin typeface="Courier New Regular" panose="02070409020205090404" charset="0"/>
                <a:cs typeface="Courier New Regular" panose="02070409020205090404" charset="0"/>
              </a:rPr>
              <a:t>memcpy</a:t>
            </a:r>
            <a:r>
              <a:rPr lang="en-US" altLang="zh-CN">
                <a:ea typeface="+mn-lt"/>
                <a:cs typeface="Courier New Regular" panose="02070409020205090404" charset="0"/>
              </a:rPr>
              <a:t>: Copies </a:t>
            </a:r>
            <a:r>
              <a:rPr lang="en-US" altLang="zh-CN">
                <a:latin typeface="Courier New Regular" panose="02070409020205090404" charset="0"/>
                <a:ea typeface="+mn-lt"/>
                <a:cs typeface="Courier New Regular" panose="02070409020205090404" charset="0"/>
              </a:rPr>
              <a:t>count</a:t>
            </a:r>
            <a:r>
              <a:rPr lang="en-US" altLang="zh-CN">
                <a:ea typeface="+mn-lt"/>
                <a:cs typeface="Courier New Regular" panose="02070409020205090404" charset="0"/>
              </a:rPr>
              <a:t> charcters from </a:t>
            </a:r>
            <a:r>
              <a:rPr lang="en-US" altLang="zh-CN">
                <a:latin typeface="Courier New Regular" panose="02070409020205090404" charset="0"/>
                <a:ea typeface="+mn-lt"/>
                <a:cs typeface="Courier New Regular" panose="02070409020205090404" charset="0"/>
              </a:rPr>
              <a:t>src</a:t>
            </a:r>
            <a:r>
              <a:rPr lang="en-US" altLang="zh-CN">
                <a:ea typeface="+mn-lt"/>
                <a:cs typeface="Courier New Regular" panose="02070409020205090404" charset="0"/>
              </a:rPr>
              <a:t> to </a:t>
            </a:r>
            <a:r>
              <a:rPr lang="en-US" altLang="zh-CN">
                <a:latin typeface="Courier New Regular" panose="02070409020205090404" charset="0"/>
                <a:ea typeface="+mn-lt"/>
                <a:cs typeface="Courier New Regular" panose="02070409020205090404" charset="0"/>
              </a:rPr>
              <a:t>dest</a:t>
            </a:r>
            <a:r>
              <a:rPr lang="en-US" altLang="zh-CN">
                <a:ea typeface="+mn-lt"/>
                <a:cs typeface="Courier New Regular" panose="02070409020205090404" charset="0"/>
              </a:rPr>
              <a:t>.</a:t>
            </a:r>
          </a:p>
          <a:p>
            <a:r>
              <a:rPr lang="en-US" altLang="zh-CN">
                <a:latin typeface="Courier New Regular" panose="02070409020205090404" charset="0"/>
                <a:ea typeface="+mn-lt"/>
                <a:cs typeface="Courier New Regular" panose="02070409020205090404" charset="0"/>
              </a:rPr>
              <a:t>void* memcpy( void *dest, const void *src, size_t count 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Courier New Regular" panose="02070409020205090404" charset="0"/>
                <a:cs typeface="Courier New Regular" panose="02070409020205090404" charset="0"/>
              </a:rPr>
              <a:t>struct</a:t>
            </a:r>
            <a:r>
              <a:rPr lang="en-US" altLang="zh-CN"/>
              <a:t> and </a:t>
            </a:r>
            <a:r>
              <a:rPr lang="en-US" altLang="zh-CN">
                <a:latin typeface="Courier New Regular" panose="02070409020205090404" charset="0"/>
                <a:cs typeface="Courier New Regular" panose="02070409020205090404" charset="0"/>
              </a:rPr>
              <a:t>typedef struct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For </a:t>
            </a:r>
            <a:r>
              <a:rPr lang="en-US" altLang="zh-CN">
                <a:latin typeface="Courier New Regular" panose="02070409020205090404" charset="0"/>
                <a:cs typeface="Courier New Regular" panose="02070409020205090404" charset="0"/>
              </a:rPr>
              <a:t>struct</a:t>
            </a:r>
            <a:r>
              <a:rPr lang="en-US" altLang="zh-CN"/>
              <a:t>, you should define the name right after the “</a:t>
            </a:r>
            <a:r>
              <a:rPr lang="en-US" altLang="zh-CN">
                <a:latin typeface="Courier New Regular" panose="02070409020205090404" charset="0"/>
                <a:cs typeface="Courier New Regular" panose="02070409020205090404" charset="0"/>
              </a:rPr>
              <a:t>struct</a:t>
            </a:r>
            <a:r>
              <a:rPr lang="en-US" altLang="zh-CN"/>
              <a:t>” keyword. When using the </a:t>
            </a:r>
            <a:r>
              <a:rPr lang="en-US" altLang="zh-CN">
                <a:latin typeface="Courier New Regular" panose="02070409020205090404" charset="0"/>
                <a:cs typeface="Courier New Regular" panose="02070409020205090404" charset="0"/>
              </a:rPr>
              <a:t>struct</a:t>
            </a:r>
            <a:r>
              <a:rPr lang="en-US" altLang="zh-CN"/>
              <a:t>, you should refer to the type as </a:t>
            </a:r>
            <a:r>
              <a:rPr lang="en-US" altLang="zh-CN">
                <a:latin typeface="Courier New Regular" panose="02070409020205090404" charset="0"/>
                <a:cs typeface="Courier New Regular" panose="02070409020205090404" charset="0"/>
              </a:rPr>
              <a:t>struct structName</a:t>
            </a:r>
            <a:r>
              <a:rPr lang="en-US" altLang="zh-CN"/>
              <a:t>.</a:t>
            </a:r>
          </a:p>
          <a:p>
            <a:r>
              <a:rPr lang="en-US" altLang="zh-CN"/>
              <a:t>For </a:t>
            </a:r>
            <a:r>
              <a:rPr lang="en-US" altLang="zh-CN">
                <a:latin typeface="Courier New Regular" panose="02070409020205090404" charset="0"/>
                <a:cs typeface="Courier New Regular" panose="02070409020205090404" charset="0"/>
              </a:rPr>
              <a:t>typedef struct</a:t>
            </a:r>
            <a:r>
              <a:rPr lang="en-US" altLang="zh-CN"/>
              <a:t>, you should define the name after the </a:t>
            </a:r>
            <a:r>
              <a:rPr lang="en-US" altLang="zh-CN">
                <a:latin typeface="Courier New Regular" panose="02070409020205090404" charset="0"/>
                <a:cs typeface="Courier New Regular" panose="02070409020205090404" charset="0"/>
              </a:rPr>
              <a:t>struct</a:t>
            </a:r>
            <a:r>
              <a:rPr lang="en-US" altLang="zh-CN"/>
              <a:t> has been defined. When using the </a:t>
            </a:r>
            <a:r>
              <a:rPr lang="en-US" altLang="zh-CN">
                <a:latin typeface="Courier New Regular" panose="02070409020205090404" charset="0"/>
                <a:cs typeface="Courier New Regular" panose="02070409020205090404" charset="0"/>
              </a:rPr>
              <a:t>typedef struct</a:t>
            </a:r>
            <a:r>
              <a:rPr lang="en-US" altLang="zh-CN"/>
              <a:t>, you can directly refer to it as </a:t>
            </a:r>
            <a:r>
              <a:rPr lang="en-US" altLang="zh-CN">
                <a:latin typeface="Courier New Regular" panose="02070409020205090404" charset="0"/>
                <a:cs typeface="Courier New Regular" panose="02070409020205090404" charset="0"/>
              </a:rPr>
              <a:t>structName</a:t>
            </a:r>
            <a:r>
              <a:rPr lang="en-US" altLang="zh-CN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DKB_final_end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4800" b="1" dirty="0">
                <a:solidFill>
                  <a:schemeClr val="bg1"/>
                </a:solidFill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469</Words>
  <Application>Microsoft Office PowerPoint</Application>
  <PresentationFormat>宽屏</PresentationFormat>
  <Paragraphs>57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Courier New Regular</vt:lpstr>
      <vt:lpstr>等线</vt:lpstr>
      <vt:lpstr>等线 Light</vt:lpstr>
      <vt:lpstr>Arial</vt:lpstr>
      <vt:lpstr>Office 主题​​</vt:lpstr>
      <vt:lpstr>PowerPoint 演示文稿</vt:lpstr>
      <vt:lpstr>Overview</vt:lpstr>
      <vt:lpstr>Requirements</vt:lpstr>
      <vt:lpstr>Flooding</vt:lpstr>
      <vt:lpstr>Flooding: Pseudo Code</vt:lpstr>
      <vt:lpstr>Loop Avoidance</vt:lpstr>
      <vt:lpstr>Loop Avoidance</vt:lpstr>
      <vt:lpstr>TTL Control</vt:lpstr>
      <vt:lpstr>memcpy and strcpy</vt:lpstr>
      <vt:lpstr>struct and typedef struct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Na Zhang (SSE, 120090176)</dc:creator>
  <cp:lastModifiedBy>Chaoyi Sun (SDS,124090550)</cp:lastModifiedBy>
  <cp:revision>105</cp:revision>
  <dcterms:created xsi:type="dcterms:W3CDTF">2026-03-09T08:30:56Z</dcterms:created>
  <dcterms:modified xsi:type="dcterms:W3CDTF">2026-03-09T11:15:14Z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2CFC521AAB6FD707136D08690F564DA8_42</vt:lpwstr>
  </property>
  <property fmtid="{D5CDD505-2E9C-101B-9397-08002B2CF9AE}" pid="3" name="KSOProductBuildVer">
    <vt:lpwstr>2052-12.1.24031.24031</vt:lpwstr>
  </property>
</Properties>
</file>