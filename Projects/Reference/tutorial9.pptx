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9" r:id="rId3"/>
    <p:sldId id="313" r:id="rId4"/>
    <p:sldId id="310" r:id="rId5"/>
    <p:sldId id="314" r:id="rId6"/>
    <p:sldId id="322" r:id="rId7"/>
    <p:sldId id="321" r:id="rId8"/>
    <p:sldId id="324" r:id="rId9"/>
    <p:sldId id="328" r:id="rId10"/>
    <p:sldId id="323" r:id="rId11"/>
    <p:sldId id="326" r:id="rId12"/>
    <p:sldId id="327" r:id="rId13"/>
    <p:sldId id="27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10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EF6F6-E017-4203-B14A-A9D43F38C1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E0ED31-37C2-41CD-82FB-1151625404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86541" y="1566947"/>
            <a:ext cx="8088198" cy="387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/>
              <a:t>CSC4303: </a:t>
            </a:r>
            <a:r>
              <a:rPr lang="en-US" altLang="zh-CN" sz="3200" b="1" dirty="0"/>
              <a:t>Network Programming</a:t>
            </a:r>
            <a:endParaRPr lang="en-US" altLang="zh-CN" sz="3200" b="1" dirty="0"/>
          </a:p>
          <a:p>
            <a:endParaRPr lang="en-US" altLang="zh-CN" sz="3200" dirty="0"/>
          </a:p>
          <a:p>
            <a:pPr algn="ctr">
              <a:lnSpc>
                <a:spcPct val="150000"/>
              </a:lnSpc>
            </a:pPr>
            <a:r>
              <a:rPr lang="en-US" altLang="zh-CN" sz="2800" b="1" dirty="0"/>
              <a:t>Tutorial 9: Introduction to Assignment 5</a:t>
            </a:r>
            <a:endParaRPr lang="en-US" altLang="zh-CN" sz="2800" b="1" dirty="0"/>
          </a:p>
          <a:p>
            <a:pPr algn="ctr"/>
            <a:r>
              <a:rPr lang="en-US" altLang="zh-CN" sz="2800" b="1" dirty="0"/>
              <a:t>JSON RPC Library</a:t>
            </a:r>
            <a:endParaRPr lang="en-US" altLang="zh-CN" sz="2800" b="1" dirty="0"/>
          </a:p>
          <a:p>
            <a:pPr algn="ctr"/>
            <a:endParaRPr lang="en-US" altLang="zh-CN" sz="2800" dirty="0"/>
          </a:p>
          <a:p>
            <a:pPr algn="ctr"/>
            <a:r>
              <a:rPr lang="en-US" altLang="zh-CN" sz="2800" dirty="0"/>
              <a:t>Fang Zihao</a:t>
            </a:r>
            <a:endParaRPr lang="en-US" altLang="zh-CN" sz="2800" dirty="0"/>
          </a:p>
          <a:p>
            <a:pPr algn="ctr"/>
            <a:endParaRPr lang="en-US" altLang="zh-CN" sz="2800" dirty="0"/>
          </a:p>
          <a:p>
            <a:pPr algn="ctr"/>
            <a:r>
              <a:rPr lang="en-US" altLang="zh-CN" sz="2800" dirty="0"/>
              <a:t>March 30th, 2026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lnSpc>
                <a:spcPct val="150000"/>
              </a:lnSpc>
            </a:pPr>
            <a:r>
              <a:rPr lang="en-US" altLang="zh-CN"/>
              <a:t>A basic JSON RPC Library.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C Server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Receive function calls and execute functions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Send results</a:t>
            </a:r>
            <a:endParaRPr lang="en-US" altLang="zh-CN"/>
          </a:p>
          <a:p>
            <a:pPr>
              <a:lnSpc>
                <a:spcPct val="150000"/>
              </a:lnSpc>
            </a:pPr>
            <a:r>
              <a:rPr lang="en-US" altLang="zh-CN"/>
              <a:t>Python Client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Send function calls</a:t>
            </a:r>
            <a:endParaRPr lang="en-US" altLang="zh-CN"/>
          </a:p>
          <a:p>
            <a:pPr lvl="1">
              <a:lnSpc>
                <a:spcPct val="150000"/>
              </a:lnSpc>
            </a:pPr>
            <a:r>
              <a:rPr lang="en-US" altLang="zh-CN"/>
              <a:t>Receive results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058107" y="1669686"/>
            <a:ext cx="1007578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dirty="0"/>
              <a:t>Implementation Language</a:t>
            </a:r>
            <a:endParaRPr lang="en-US" altLang="zh-CN" sz="2400" b="1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dirty="0"/>
              <a:t>C</a:t>
            </a:r>
            <a:endParaRPr lang="en-US" altLang="zh-CN" sz="2400" b="1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dirty="0"/>
              <a:t>Python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b="1" dirty="0"/>
              <a:t>Environment</a:t>
            </a:r>
            <a:endParaRPr lang="en-US" altLang="zh-CN" sz="2400" b="1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Unix-like Operating System (POSIX-compatible)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GCC or Clang compiler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GNU Make</a:t>
            </a:r>
            <a:endParaRPr lang="en-US" altLang="zh-CN" sz="2400" dirty="0"/>
          </a:p>
          <a:p>
            <a:pPr marL="800100" lvl="1" indent="-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400" dirty="0"/>
              <a:t>Python 3 Interpreter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Overview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b="1"/>
              <a:t>main.c: 9 TODOs</a:t>
            </a:r>
            <a:endParaRPr lang="en-US" altLang="zh-CN" b="1"/>
          </a:p>
          <a:p>
            <a:pPr lvl="1"/>
            <a:r>
              <a:rPr lang="en-US" altLang="zh-CN"/>
              <a:t>Implement handler functions and function registrations</a:t>
            </a:r>
            <a:endParaRPr lang="en-US" altLang="zh-CN"/>
          </a:p>
          <a:p>
            <a:r>
              <a:rPr lang="en-US" altLang="zh-CN" b="1"/>
              <a:t>rpc_connection.c: 3 TODOs</a:t>
            </a:r>
            <a:endParaRPr lang="en-US" altLang="zh-CN" b="1"/>
          </a:p>
          <a:p>
            <a:pPr lvl="1"/>
            <a:r>
              <a:rPr lang="en-US" altLang="zh-CN"/>
              <a:t>Implement wrappers for sending and receiving data</a:t>
            </a:r>
            <a:endParaRPr lang="en-US" altLang="zh-CN"/>
          </a:p>
          <a:p>
            <a:r>
              <a:rPr lang="en-US" altLang="zh-CN" b="1"/>
              <a:t>rpc_server_stub.c: 4 TODOs</a:t>
            </a:r>
            <a:endParaRPr lang="en-US" altLang="zh-CN" b="1"/>
          </a:p>
          <a:p>
            <a:pPr lvl="1"/>
            <a:r>
              <a:rPr lang="en-US" altLang="zh-CN"/>
              <a:t>Implement internal logic of JSON RPC server</a:t>
            </a:r>
            <a:endParaRPr lang="en-US" altLang="zh-CN"/>
          </a:p>
          <a:p>
            <a:r>
              <a:rPr lang="en-US" altLang="zh-CN" b="1"/>
              <a:t>rpc_client_stub.py: 6 TODOs</a:t>
            </a:r>
            <a:endParaRPr lang="en-US" altLang="zh-CN" b="1"/>
          </a:p>
          <a:p>
            <a:pPr lvl="1"/>
            <a:r>
              <a:rPr lang="en-US" altLang="zh-CN"/>
              <a:t>Implement internal logic of JSON RPC client</a:t>
            </a:r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What is JSON?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An open standard file format and data interchange format that uses human-readable text to store and transmit data objects.</a:t>
            </a:r>
            <a:endParaRPr lang="en-US" altLang="zh-CN"/>
          </a:p>
          <a:p>
            <a:r>
              <a:rPr lang="en-US" altLang="zh-CN"/>
              <a:t>Data Types:</a:t>
            </a:r>
            <a:endParaRPr lang="en-US" altLang="zh-CN"/>
          </a:p>
          <a:p>
            <a:pPr lvl="1"/>
            <a:r>
              <a:rPr lang="en-US" altLang="zh-CN"/>
              <a:t>Number: No distinction between integer and floating-point</a:t>
            </a:r>
            <a:endParaRPr lang="en-US" altLang="zh-CN"/>
          </a:p>
          <a:p>
            <a:pPr lvl="1"/>
            <a:r>
              <a:rPr lang="en-US" altLang="zh-CN"/>
              <a:t>String</a:t>
            </a:r>
            <a:endParaRPr lang="en-US" altLang="zh-CN"/>
          </a:p>
          <a:p>
            <a:pPr lvl="1"/>
            <a:r>
              <a:rPr lang="en-US" altLang="zh-CN"/>
              <a:t>Boolean: true or false</a:t>
            </a:r>
            <a:endParaRPr lang="en-US" altLang="zh-CN"/>
          </a:p>
          <a:p>
            <a:pPr lvl="1"/>
            <a:r>
              <a:rPr lang="en-US" altLang="zh-CN"/>
              <a:t>Array</a:t>
            </a:r>
            <a:endParaRPr lang="en-US" altLang="zh-CN"/>
          </a:p>
          <a:p>
            <a:pPr lvl="1"/>
            <a:r>
              <a:rPr lang="en-US" altLang="zh-CN"/>
              <a:t>Object</a:t>
            </a:r>
            <a:endParaRPr lang="en-US" altLang="zh-CN"/>
          </a:p>
          <a:p>
            <a:pPr lvl="1"/>
            <a:r>
              <a:rPr lang="en-US" altLang="zh-CN"/>
              <a:t>Null</a:t>
            </a:r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060"/>
            <a:ext cx="4476115" cy="1325880"/>
          </a:xfrm>
        </p:spPr>
        <p:txBody>
          <a:bodyPr/>
          <a:p>
            <a:pPr algn="ctr"/>
            <a:r>
              <a:rPr lang="en-US" altLang="zh-CN"/>
              <a:t>JSON example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94730" y="142240"/>
            <a:ext cx="4476115" cy="6572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What is cJSON?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Ultralightweight JSON parser in C</a:t>
            </a:r>
            <a:endParaRPr lang="en-US" altLang="zh-CN"/>
          </a:p>
          <a:p>
            <a:r>
              <a:rPr lang="en-US" altLang="zh-CN"/>
              <a:t>cJSON represents JSON data using the cJSON struct data type: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0" y="2912745"/>
            <a:ext cx="8636000" cy="3378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cJSON Functions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cJSON_Parse: Turn a JSON string into a JSON object</a:t>
            </a:r>
            <a:endParaRPr lang="en-US" altLang="zh-CN"/>
          </a:p>
          <a:p>
            <a:r>
              <a:rPr lang="en-US" altLang="zh-CN"/>
              <a:t>cJSON_CreateObject: Create a new JSON object</a:t>
            </a:r>
            <a:endParaRPr lang="en-US" altLang="zh-CN"/>
          </a:p>
          <a:p>
            <a:r>
              <a:rPr lang="en-US" altLang="zh-CN"/>
              <a:t>cJSON_AddItemToObject: Add a key-value pair to the object</a:t>
            </a:r>
            <a:endParaRPr lang="en-US" altLang="zh-CN"/>
          </a:p>
          <a:p>
            <a:r>
              <a:rPr lang="en-US" altLang="zh-CN"/>
              <a:t>cJSON_CreateString: Create a new JSON string from a C string</a:t>
            </a:r>
            <a:endParaRPr lang="en-US" altLang="zh-CN"/>
          </a:p>
          <a:p>
            <a:r>
              <a:rPr lang="en-US" altLang="zh-CN"/>
              <a:t>cJSON_CreateArray: Create a new JSON array</a:t>
            </a:r>
            <a:endParaRPr lang="en-US" altLang="zh-CN"/>
          </a:p>
          <a:p>
            <a:r>
              <a:rPr lang="en-US" altLang="zh-CN"/>
              <a:t>cJSON_AddItemToArray: Add an item to the array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What is RPC?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963920" cy="4351655"/>
          </a:xfrm>
        </p:spPr>
        <p:txBody>
          <a:bodyPr/>
          <a:p>
            <a:r>
              <a:rPr lang="en-US" altLang="zh-CN"/>
              <a:t>The clients wrap the function call into some representation.</a:t>
            </a:r>
            <a:endParaRPr lang="en-US" altLang="zh-CN"/>
          </a:p>
          <a:p>
            <a:r>
              <a:rPr lang="en-US" altLang="zh-CN"/>
              <a:t>The clients transmit the representation to server.</a:t>
            </a:r>
            <a:endParaRPr lang="en-US" altLang="zh-CN"/>
          </a:p>
          <a:p>
            <a:r>
              <a:rPr lang="en-US" altLang="zh-CN"/>
              <a:t>The server unwrap the representation, execute the function, and wrap the result into some representation.</a:t>
            </a:r>
            <a:endParaRPr lang="en-US" altLang="zh-CN"/>
          </a:p>
          <a:p>
            <a:r>
              <a:rPr lang="en-US" altLang="zh-CN"/>
              <a:t>The clients unwrap the representation and get the result</a:t>
            </a:r>
            <a:endParaRPr lang="en-US" altLang="zh-CN"/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6802755" y="2089150"/>
            <a:ext cx="4551045" cy="38239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JSON and RPC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JSON as some kind of representation!</a:t>
            </a:r>
            <a:endParaRPr lang="en-US" altLang="zh-CN"/>
          </a:p>
          <a:p>
            <a:r>
              <a:rPr lang="en-US" altLang="zh-CN"/>
              <a:t>JSON corresponding to:</a:t>
            </a:r>
            <a:endParaRPr lang="en-US" altLang="zh-CN"/>
          </a:p>
          <a:p>
            <a:pPr lvl="1"/>
            <a:r>
              <a:rPr lang="en-US" altLang="zh-CN"/>
              <a:t>Number: int and float in both Python and C</a:t>
            </a:r>
            <a:endParaRPr lang="en-US" altLang="zh-CN"/>
          </a:p>
          <a:p>
            <a:pPr lvl="1"/>
            <a:r>
              <a:rPr lang="en-US" altLang="zh-CN"/>
              <a:t>String: string in Python, char* in C</a:t>
            </a:r>
            <a:endParaRPr lang="en-US" altLang="zh-CN"/>
          </a:p>
          <a:p>
            <a:pPr lvl="1"/>
            <a:r>
              <a:rPr lang="en-US" altLang="zh-CN"/>
              <a:t>Boolean: bool in both Python and C</a:t>
            </a:r>
            <a:endParaRPr lang="en-US" altLang="zh-CN"/>
          </a:p>
          <a:p>
            <a:pPr lvl="1"/>
            <a:r>
              <a:rPr lang="en-US" altLang="zh-CN"/>
              <a:t>Array: list in Python, array in C</a:t>
            </a:r>
            <a:endParaRPr lang="en-US" altLang="zh-CN"/>
          </a:p>
          <a:p>
            <a:pPr lvl="1"/>
            <a:r>
              <a:rPr lang="en-US" altLang="zh-CN"/>
              <a:t>Object: dict in Python. No corresponding data structure in C, but you can construct a struct that represents it.</a:t>
            </a:r>
            <a:endParaRPr lang="en-US" altLang="zh-CN"/>
          </a:p>
          <a:p>
            <a:pPr lvl="1"/>
            <a:r>
              <a:rPr lang="en-US" altLang="zh-CN"/>
              <a:t>Null: None in Python, NULL in C</a:t>
            </a: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 Good Choice?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JSON: </a:t>
            </a:r>
            <a:r>
              <a:rPr lang="en-US" altLang="zh-CN">
                <a:sym typeface="+mn-ea"/>
              </a:rPr>
              <a:t>human-readable text to store and transmit data objects.</a:t>
            </a:r>
            <a:endParaRPr lang="en-US" altLang="zh-CN">
              <a:sym typeface="+mn-ea"/>
            </a:endParaRPr>
          </a:p>
          <a:p>
            <a:r>
              <a:rPr lang="en-US" altLang="zh-CN"/>
              <a:t>Not efficient for machines!</a:t>
            </a:r>
            <a:endParaRPr lang="en-US" altLang="zh-CN"/>
          </a:p>
          <a:p>
            <a:r>
              <a:rPr lang="en-US" altLang="zh-CN"/>
              <a:t>Binary forms are more efficient:</a:t>
            </a:r>
            <a:endParaRPr lang="en-US" altLang="zh-CN"/>
          </a:p>
          <a:p>
            <a:pPr lvl="1"/>
            <a:r>
              <a:rPr lang="en-US" altLang="zh-CN" sz="2800"/>
              <a:t>gRPC</a:t>
            </a:r>
            <a:endParaRPr lang="en-US" altLang="zh-CN" sz="2800"/>
          </a:p>
          <a:p>
            <a:pPr lvl="1"/>
            <a:r>
              <a:rPr lang="en-US" altLang="zh-CN" sz="2800"/>
              <a:t>Protobuf</a:t>
            </a:r>
            <a:endParaRPr lang="en-US" altLang="zh-CN" sz="2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4045" y="2357755"/>
            <a:ext cx="2143125" cy="214312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6287453" y="4500563"/>
            <a:ext cx="3495675" cy="1304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800" b="1" dirty="0">
                <a:solidFill>
                  <a:schemeClr val="tx1"/>
                </a:solidFill>
              </a:rPr>
              <a:t>Thank You!</a:t>
            </a:r>
            <a:endParaRPr lang="en-US" altLang="zh-CN" sz="48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2163</Words>
  <Application>WPS 演示</Application>
  <PresentationFormat>宽屏</PresentationFormat>
  <Paragraphs>96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汉仪书宋二KW</vt:lpstr>
      <vt:lpstr>等线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Courier New Regular</vt:lpstr>
      <vt:lpstr>Times New Roman Regular</vt:lpstr>
      <vt:lpstr>Office 主题​​</vt:lpstr>
      <vt:lpstr>PowerPoint 演示文稿</vt:lpstr>
      <vt:lpstr>Overview</vt:lpstr>
      <vt:lpstr>Overview</vt:lpstr>
      <vt:lpstr>Overview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Na Zhang (SSE, 120090176)</dc:creator>
  <cp:lastModifiedBy>闹闹</cp:lastModifiedBy>
  <cp:revision>114</cp:revision>
  <dcterms:created xsi:type="dcterms:W3CDTF">2026-03-29T14:59:57Z</dcterms:created>
  <dcterms:modified xsi:type="dcterms:W3CDTF">2026-03-29T14:59:57Z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2CFC521AAB6FD707136D08690F564DA8_42</vt:lpwstr>
  </property>
  <property fmtid="{D5CDD505-2E9C-101B-9397-08002B2CF9AE}" pid="3" name="KSOProductBuildVer">
    <vt:lpwstr>2052-12.1.24031.24031</vt:lpwstr>
  </property>
</Properties>
</file>